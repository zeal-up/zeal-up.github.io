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" name="Group 25"/>
          <p:cNvGrpSpPr/>
          <p:nvPr/>
        </p:nvGrpSpPr>
        <p:grpSpPr>
          <a:xfrm>
            <a:off x="2021840" y="5715"/>
            <a:ext cx="1844040" cy="1215390"/>
            <a:chOff x="2233" y="1353"/>
            <a:chExt cx="2904" cy="1914"/>
          </a:xfrm>
        </p:grpSpPr>
        <p:sp>
          <p:nvSpPr>
            <p:cNvPr id="21" name="Rectangles 20"/>
            <p:cNvSpPr/>
            <p:nvPr/>
          </p:nvSpPr>
          <p:spPr>
            <a:xfrm>
              <a:off x="2233" y="1353"/>
              <a:ext cx="2905" cy="383"/>
            </a:xfrm>
            <a:prstGeom prst="rect">
              <a:avLst/>
            </a:prstGeom>
            <a:solidFill>
              <a:schemeClr val="accent2">
                <a:alpha val="53000"/>
              </a:schemeClr>
            </a:solid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/>
                <a:t>feature 1</a:t>
              </a:r>
              <a:endParaRPr lang="en-US" sz="1400"/>
            </a:p>
          </p:txBody>
        </p:sp>
        <p:sp>
          <p:nvSpPr>
            <p:cNvPr id="22" name="Rectangles 21"/>
            <p:cNvSpPr/>
            <p:nvPr/>
          </p:nvSpPr>
          <p:spPr>
            <a:xfrm>
              <a:off x="2233" y="1736"/>
              <a:ext cx="2905" cy="383"/>
            </a:xfrm>
            <a:prstGeom prst="rect">
              <a:avLst/>
            </a:prstGeom>
            <a:solidFill>
              <a:schemeClr val="accent2">
                <a:alpha val="53000"/>
              </a:schemeClr>
            </a:solid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/>
                <a:t>feature 2</a:t>
              </a:r>
              <a:endParaRPr lang="en-US" sz="1400"/>
            </a:p>
          </p:txBody>
        </p:sp>
        <p:sp>
          <p:nvSpPr>
            <p:cNvPr id="23" name="Rectangles 22"/>
            <p:cNvSpPr/>
            <p:nvPr/>
          </p:nvSpPr>
          <p:spPr>
            <a:xfrm>
              <a:off x="2233" y="2119"/>
              <a:ext cx="2905" cy="383"/>
            </a:xfrm>
            <a:prstGeom prst="rect">
              <a:avLst/>
            </a:prstGeom>
            <a:solidFill>
              <a:schemeClr val="accent2">
                <a:alpha val="53000"/>
              </a:schemeClr>
            </a:solid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/>
                <a:t>...</a:t>
              </a:r>
              <a:endParaRPr lang="en-US" sz="1400"/>
            </a:p>
          </p:txBody>
        </p:sp>
        <p:sp>
          <p:nvSpPr>
            <p:cNvPr id="24" name="Rectangles 23"/>
            <p:cNvSpPr/>
            <p:nvPr/>
          </p:nvSpPr>
          <p:spPr>
            <a:xfrm>
              <a:off x="2233" y="2502"/>
              <a:ext cx="2905" cy="383"/>
            </a:xfrm>
            <a:prstGeom prst="rect">
              <a:avLst/>
            </a:prstGeom>
            <a:solidFill>
              <a:schemeClr val="accent2">
                <a:alpha val="53000"/>
              </a:schemeClr>
            </a:solid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/>
                <a:t>...</a:t>
              </a:r>
              <a:endParaRPr lang="en-US" sz="1400"/>
            </a:p>
          </p:txBody>
        </p:sp>
        <p:sp>
          <p:nvSpPr>
            <p:cNvPr id="25" name="Rectangles 24"/>
            <p:cNvSpPr/>
            <p:nvPr/>
          </p:nvSpPr>
          <p:spPr>
            <a:xfrm>
              <a:off x="2233" y="2885"/>
              <a:ext cx="2905" cy="383"/>
            </a:xfrm>
            <a:prstGeom prst="rect">
              <a:avLst/>
            </a:prstGeom>
            <a:solidFill>
              <a:schemeClr val="accent2">
                <a:alpha val="53000"/>
              </a:schemeClr>
            </a:solid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/>
                <a:t>feature N</a:t>
              </a:r>
              <a:endParaRPr lang="en-US" sz="140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2021840" y="1458595"/>
            <a:ext cx="5857240" cy="2406650"/>
            <a:chOff x="2398" y="3475"/>
            <a:chExt cx="9224" cy="3790"/>
          </a:xfrm>
        </p:grpSpPr>
        <p:sp>
          <p:nvSpPr>
            <p:cNvPr id="4" name="Rounded Rectangle 3"/>
            <p:cNvSpPr/>
            <p:nvPr/>
          </p:nvSpPr>
          <p:spPr>
            <a:xfrm>
              <a:off x="2398" y="3475"/>
              <a:ext cx="9225" cy="379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en-US"/>
                <a:t>FeatureVector</a:t>
              </a:r>
              <a:endParaRPr lang="en-US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5108" y="4208"/>
              <a:ext cx="5938" cy="434"/>
              <a:chOff x="8016" y="6428"/>
              <a:chExt cx="5938" cy="434"/>
            </a:xfrm>
          </p:grpSpPr>
          <p:sp>
            <p:nvSpPr>
              <p:cNvPr id="5" name="Rectangles 4"/>
              <p:cNvSpPr/>
              <p:nvPr/>
            </p:nvSpPr>
            <p:spPr>
              <a:xfrm>
                <a:off x="8016" y="6428"/>
                <a:ext cx="1673" cy="43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 anchorCtr="0"/>
              <a:p>
                <a:pPr algn="ctr">
                  <a:buClrTx/>
                  <a:buSzTx/>
                  <a:buFontTx/>
                </a:pPr>
                <a:r>
                  <a:rPr lang="en-US" sz="1200"/>
                  <a:t>word_1</a:t>
                </a:r>
                <a:endParaRPr lang="en-US" sz="1200"/>
              </a:p>
            </p:txBody>
          </p:sp>
          <p:sp>
            <p:nvSpPr>
              <p:cNvPr id="11" name="Text Box 10"/>
              <p:cNvSpPr txBox="1"/>
              <p:nvPr/>
            </p:nvSpPr>
            <p:spPr>
              <a:xfrm>
                <a:off x="10426" y="6428"/>
                <a:ext cx="3528" cy="43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p>
                <a:pPr algn="ctr"/>
                <a:r>
                  <a:rPr lang="en-US" sz="1200"/>
                  <a:t>featId_1,featId_2,...,featId_n</a:t>
                </a:r>
                <a:endParaRPr lang="en-US" sz="1200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9850" y="6645"/>
                <a:ext cx="415" cy="0"/>
              </a:xfrm>
              <a:prstGeom prst="straightConnector1">
                <a:avLst/>
              </a:prstGeom>
              <a:ln>
                <a:headEnd type="triangl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5108" y="4838"/>
              <a:ext cx="5938" cy="434"/>
              <a:chOff x="8016" y="6428"/>
              <a:chExt cx="5938" cy="434"/>
            </a:xfrm>
          </p:grpSpPr>
          <p:sp>
            <p:nvSpPr>
              <p:cNvPr id="30" name="Rectangles 29"/>
              <p:cNvSpPr/>
              <p:nvPr/>
            </p:nvSpPr>
            <p:spPr>
              <a:xfrm>
                <a:off x="8016" y="6428"/>
                <a:ext cx="1673" cy="43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 anchorCtr="0"/>
              <a:p>
                <a:pPr algn="ctr">
                  <a:buClrTx/>
                  <a:buSzTx/>
                  <a:buFontTx/>
                </a:pPr>
                <a:r>
                  <a:rPr lang="en-US" sz="1200"/>
                  <a:t>word_4</a:t>
                </a:r>
                <a:endParaRPr lang="en-US" sz="1200"/>
              </a:p>
            </p:txBody>
          </p:sp>
          <p:sp>
            <p:nvSpPr>
              <p:cNvPr id="31" name="Text Box 30"/>
              <p:cNvSpPr txBox="1"/>
              <p:nvPr/>
            </p:nvSpPr>
            <p:spPr>
              <a:xfrm>
                <a:off x="10426" y="6428"/>
                <a:ext cx="3528" cy="43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p>
                <a:pPr algn="ctr"/>
                <a:r>
                  <a:rPr lang="en-US" sz="1200"/>
                  <a:t>featId_1,featId_2,...,featId_n</a:t>
                </a:r>
                <a:endParaRPr lang="en-US" sz="1200"/>
              </a:p>
            </p:txBody>
          </p:sp>
          <p:cxnSp>
            <p:nvCxnSpPr>
              <p:cNvPr id="32" name="Straight Arrow Connector 31"/>
              <p:cNvCxnSpPr/>
              <p:nvPr/>
            </p:nvCxnSpPr>
            <p:spPr>
              <a:xfrm>
                <a:off x="9850" y="6645"/>
                <a:ext cx="415" cy="0"/>
              </a:xfrm>
              <a:prstGeom prst="straightConnector1">
                <a:avLst/>
              </a:prstGeom>
              <a:ln>
                <a:headEnd type="triangl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/>
            <p:cNvGrpSpPr/>
            <p:nvPr/>
          </p:nvGrpSpPr>
          <p:grpSpPr>
            <a:xfrm>
              <a:off x="5108" y="5468"/>
              <a:ext cx="5938" cy="434"/>
              <a:chOff x="8016" y="6428"/>
              <a:chExt cx="5938" cy="434"/>
            </a:xfrm>
          </p:grpSpPr>
          <p:sp>
            <p:nvSpPr>
              <p:cNvPr id="34" name="Rectangles 33"/>
              <p:cNvSpPr/>
              <p:nvPr/>
            </p:nvSpPr>
            <p:spPr>
              <a:xfrm>
                <a:off x="8016" y="6428"/>
                <a:ext cx="1673" cy="43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 anchorCtr="0"/>
              <a:p>
                <a:pPr algn="ctr">
                  <a:buClrTx/>
                  <a:buSzTx/>
                  <a:buFontTx/>
                </a:pPr>
                <a:r>
                  <a:rPr lang="en-US" sz="1200"/>
                  <a:t>...</a:t>
                </a:r>
                <a:endParaRPr lang="en-US" sz="1200"/>
              </a:p>
            </p:txBody>
          </p:sp>
          <p:sp>
            <p:nvSpPr>
              <p:cNvPr id="35" name="Text Box 34"/>
              <p:cNvSpPr txBox="1"/>
              <p:nvPr/>
            </p:nvSpPr>
            <p:spPr>
              <a:xfrm>
                <a:off x="10426" y="6428"/>
                <a:ext cx="3528" cy="43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p>
                <a:pPr algn="ctr"/>
                <a:endParaRPr lang="en-US" sz="1200"/>
              </a:p>
            </p:txBody>
          </p:sp>
          <p:cxnSp>
            <p:nvCxnSpPr>
              <p:cNvPr id="36" name="Straight Arrow Connector 35"/>
              <p:cNvCxnSpPr/>
              <p:nvPr/>
            </p:nvCxnSpPr>
            <p:spPr>
              <a:xfrm>
                <a:off x="9850" y="6645"/>
                <a:ext cx="415" cy="0"/>
              </a:xfrm>
              <a:prstGeom prst="straightConnector1">
                <a:avLst/>
              </a:prstGeom>
              <a:ln>
                <a:headEnd type="triangl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/>
            <p:cNvGrpSpPr/>
            <p:nvPr/>
          </p:nvGrpSpPr>
          <p:grpSpPr>
            <a:xfrm>
              <a:off x="5108" y="6098"/>
              <a:ext cx="5938" cy="434"/>
              <a:chOff x="8016" y="6428"/>
              <a:chExt cx="5938" cy="434"/>
            </a:xfrm>
          </p:grpSpPr>
          <p:sp>
            <p:nvSpPr>
              <p:cNvPr id="38" name="Rectangles 37"/>
              <p:cNvSpPr/>
              <p:nvPr/>
            </p:nvSpPr>
            <p:spPr>
              <a:xfrm>
                <a:off x="8016" y="6428"/>
                <a:ext cx="1673" cy="43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 anchorCtr="0"/>
              <a:p>
                <a:pPr algn="ctr">
                  <a:buClrTx/>
                  <a:buSzTx/>
                  <a:buFontTx/>
                </a:pPr>
                <a:r>
                  <a:rPr lang="en-US" sz="1200"/>
                  <a:t>word_200</a:t>
                </a:r>
                <a:endParaRPr lang="en-US" sz="1200"/>
              </a:p>
            </p:txBody>
          </p:sp>
          <p:sp>
            <p:nvSpPr>
              <p:cNvPr id="39" name="Text Box 38"/>
              <p:cNvSpPr txBox="1"/>
              <p:nvPr/>
            </p:nvSpPr>
            <p:spPr>
              <a:xfrm>
                <a:off x="10426" y="6428"/>
                <a:ext cx="3528" cy="43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p>
                <a:pPr algn="ctr"/>
                <a:r>
                  <a:rPr lang="en-US" sz="1200"/>
                  <a:t>featId_1,featId_2,...,featId_n</a:t>
                </a:r>
                <a:endParaRPr lang="en-US" sz="1200"/>
              </a:p>
            </p:txBody>
          </p:sp>
          <p:cxnSp>
            <p:nvCxnSpPr>
              <p:cNvPr id="40" name="Straight Arrow Connector 39"/>
              <p:cNvCxnSpPr/>
              <p:nvPr/>
            </p:nvCxnSpPr>
            <p:spPr>
              <a:xfrm>
                <a:off x="9850" y="6645"/>
                <a:ext cx="415" cy="0"/>
              </a:xfrm>
              <a:prstGeom prst="straightConnector1">
                <a:avLst/>
              </a:prstGeom>
              <a:ln>
                <a:headEnd type="triangl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1" name="Text Box 40"/>
            <p:cNvSpPr txBox="1"/>
            <p:nvPr/>
          </p:nvSpPr>
          <p:spPr>
            <a:xfrm>
              <a:off x="2632" y="4789"/>
              <a:ext cx="2138" cy="11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p>
              <a:r>
                <a:rPr lang="en-US" sz="1000"/>
                <a:t>map&lt;</a:t>
              </a:r>
              <a:endParaRPr lang="en-US" sz="1000"/>
            </a:p>
            <a:p>
              <a:r>
                <a:rPr lang="en-US" sz="1000"/>
                <a:t>    wordId,  </a:t>
              </a:r>
              <a:endParaRPr lang="en-US" sz="1000"/>
            </a:p>
            <a:p>
              <a:r>
                <a:rPr lang="en-US" sz="1000"/>
                <a:t>    vector&lt;featureId&gt;</a:t>
              </a:r>
              <a:endParaRPr lang="en-US" sz="1000"/>
            </a:p>
            <a:p>
              <a:r>
                <a:rPr lang="en-US" sz="1000"/>
                <a:t>&gt;</a:t>
              </a:r>
              <a:endParaRPr lang="en-US" sz="1000"/>
            </a:p>
          </p:txBody>
        </p:sp>
        <p:sp>
          <p:nvSpPr>
            <p:cNvPr id="42" name="Left Brace 41"/>
            <p:cNvSpPr/>
            <p:nvPr/>
          </p:nvSpPr>
          <p:spPr>
            <a:xfrm>
              <a:off x="4898" y="4208"/>
              <a:ext cx="176" cy="2323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3" name="Text Box 42"/>
            <p:cNvSpPr txBox="1"/>
            <p:nvPr/>
          </p:nvSpPr>
          <p:spPr>
            <a:xfrm>
              <a:off x="4698" y="6728"/>
              <a:ext cx="649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chemeClr val="bg1"/>
                  </a:solidFill>
                </a:rPr>
                <a:t>word id is not continuous since one image may not contains all words</a:t>
              </a:r>
              <a:endParaRPr lang="en-US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2021840" y="4188460"/>
            <a:ext cx="3963670" cy="2406650"/>
            <a:chOff x="3184" y="6845"/>
            <a:chExt cx="6242" cy="3790"/>
          </a:xfrm>
        </p:grpSpPr>
        <p:sp>
          <p:nvSpPr>
            <p:cNvPr id="46" name="Rounded Rectangle 45"/>
            <p:cNvSpPr/>
            <p:nvPr/>
          </p:nvSpPr>
          <p:spPr>
            <a:xfrm>
              <a:off x="3184" y="6845"/>
              <a:ext cx="6242" cy="379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en-US"/>
                <a:t>BoWVector</a:t>
              </a:r>
              <a:endParaRPr lang="en-US"/>
            </a:p>
          </p:txBody>
        </p:sp>
        <p:grpSp>
          <p:nvGrpSpPr>
            <p:cNvPr id="47" name="Group 46"/>
            <p:cNvGrpSpPr/>
            <p:nvPr/>
          </p:nvGrpSpPr>
          <p:grpSpPr>
            <a:xfrm rot="0">
              <a:off x="5384" y="7578"/>
              <a:ext cx="2249" cy="434"/>
              <a:chOff x="8016" y="6428"/>
              <a:chExt cx="2249" cy="43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8" name="Rectangles 47"/>
              <p:cNvSpPr/>
              <p:nvPr/>
            </p:nvSpPr>
            <p:spPr>
              <a:xfrm>
                <a:off x="8016" y="6428"/>
                <a:ext cx="1673" cy="43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sz="1200">
                    <a:sym typeface="+mn-ea"/>
                  </a:rPr>
                  <a:t>word_1</a:t>
                </a:r>
                <a:endParaRPr lang="en-US" sz="1200">
                  <a:sym typeface="+mn-ea"/>
                </a:endParaRPr>
              </a:p>
            </p:txBody>
          </p:sp>
          <p:cxnSp>
            <p:nvCxnSpPr>
              <p:cNvPr id="50" name="Straight Arrow Connector 49"/>
              <p:cNvCxnSpPr/>
              <p:nvPr/>
            </p:nvCxnSpPr>
            <p:spPr>
              <a:xfrm>
                <a:off x="9850" y="6645"/>
                <a:ext cx="415" cy="0"/>
              </a:xfrm>
              <a:prstGeom prst="straightConnector1">
                <a:avLst/>
              </a:prstGeom>
              <a:grpFill/>
              <a:ln>
                <a:headEnd type="triangl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/>
            <p:cNvGrpSpPr/>
            <p:nvPr/>
          </p:nvGrpSpPr>
          <p:grpSpPr>
            <a:xfrm rot="0">
              <a:off x="5384" y="8208"/>
              <a:ext cx="2249" cy="434"/>
              <a:chOff x="8016" y="6428"/>
              <a:chExt cx="2249" cy="43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2" name="Rectangles 51"/>
              <p:cNvSpPr/>
              <p:nvPr/>
            </p:nvSpPr>
            <p:spPr>
              <a:xfrm>
                <a:off x="8016" y="6428"/>
                <a:ext cx="1673" cy="43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sz="1200">
                    <a:sym typeface="+mn-ea"/>
                  </a:rPr>
                  <a:t>word_4</a:t>
                </a:r>
                <a:endParaRPr lang="en-US" sz="1200">
                  <a:sym typeface="+mn-ea"/>
                </a:endParaRPr>
              </a:p>
            </p:txBody>
          </p:sp>
          <p:cxnSp>
            <p:nvCxnSpPr>
              <p:cNvPr id="54" name="Straight Arrow Connector 53"/>
              <p:cNvCxnSpPr/>
              <p:nvPr/>
            </p:nvCxnSpPr>
            <p:spPr>
              <a:xfrm>
                <a:off x="9850" y="6645"/>
                <a:ext cx="415" cy="0"/>
              </a:xfrm>
              <a:prstGeom prst="straightConnector1">
                <a:avLst/>
              </a:prstGeom>
              <a:grpFill/>
              <a:ln>
                <a:headEnd type="triangl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/>
            <p:cNvGrpSpPr/>
            <p:nvPr/>
          </p:nvGrpSpPr>
          <p:grpSpPr>
            <a:xfrm rot="0">
              <a:off x="5384" y="8838"/>
              <a:ext cx="2249" cy="434"/>
              <a:chOff x="8016" y="6428"/>
              <a:chExt cx="2249" cy="43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6" name="Rectangles 55"/>
              <p:cNvSpPr/>
              <p:nvPr/>
            </p:nvSpPr>
            <p:spPr>
              <a:xfrm>
                <a:off x="8016" y="6428"/>
                <a:ext cx="1673" cy="43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sz="1200">
                    <a:sym typeface="+mn-ea"/>
                  </a:rPr>
                  <a:t>...</a:t>
                </a:r>
                <a:endParaRPr lang="en-US" sz="1200">
                  <a:sym typeface="+mn-ea"/>
                </a:endParaRPr>
              </a:p>
            </p:txBody>
          </p:sp>
          <p:cxnSp>
            <p:nvCxnSpPr>
              <p:cNvPr id="58" name="Straight Arrow Connector 57"/>
              <p:cNvCxnSpPr/>
              <p:nvPr/>
            </p:nvCxnSpPr>
            <p:spPr>
              <a:xfrm>
                <a:off x="9850" y="6645"/>
                <a:ext cx="415" cy="0"/>
              </a:xfrm>
              <a:prstGeom prst="straightConnector1">
                <a:avLst/>
              </a:prstGeom>
              <a:grpFill/>
              <a:ln>
                <a:headEnd type="triangl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/>
            <p:cNvGrpSpPr/>
            <p:nvPr/>
          </p:nvGrpSpPr>
          <p:grpSpPr>
            <a:xfrm rot="0">
              <a:off x="5384" y="9468"/>
              <a:ext cx="2249" cy="434"/>
              <a:chOff x="8016" y="6428"/>
              <a:chExt cx="2249" cy="43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0" name="Rectangles 59"/>
              <p:cNvSpPr/>
              <p:nvPr/>
            </p:nvSpPr>
            <p:spPr>
              <a:xfrm>
                <a:off x="8016" y="6428"/>
                <a:ext cx="1673" cy="43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sz="1200">
                    <a:sym typeface="+mn-ea"/>
                  </a:rPr>
                  <a:t>word_200</a:t>
                </a:r>
                <a:endParaRPr lang="en-US" sz="1200">
                  <a:sym typeface="+mn-ea"/>
                </a:endParaRPr>
              </a:p>
            </p:txBody>
          </p:sp>
          <p:cxnSp>
            <p:nvCxnSpPr>
              <p:cNvPr id="62" name="Straight Arrow Connector 61"/>
              <p:cNvCxnSpPr/>
              <p:nvPr/>
            </p:nvCxnSpPr>
            <p:spPr>
              <a:xfrm>
                <a:off x="9850" y="6645"/>
                <a:ext cx="415" cy="0"/>
              </a:xfrm>
              <a:prstGeom prst="straightConnector1">
                <a:avLst/>
              </a:prstGeom>
              <a:grpFill/>
              <a:ln>
                <a:headEnd type="triangl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" name="Text Box 62"/>
            <p:cNvSpPr txBox="1"/>
            <p:nvPr/>
          </p:nvSpPr>
          <p:spPr>
            <a:xfrm>
              <a:off x="3435" y="8183"/>
              <a:ext cx="1472" cy="111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p>
              <a:r>
                <a:rPr lang="en-US" sz="1000"/>
                <a:t>map&lt;</a:t>
              </a:r>
              <a:endParaRPr lang="en-US" sz="1000"/>
            </a:p>
            <a:p>
              <a:r>
                <a:rPr lang="en-US" sz="1000"/>
                <a:t>    wordId,  </a:t>
              </a:r>
              <a:endParaRPr lang="en-US" sz="1000"/>
            </a:p>
            <a:p>
              <a:r>
                <a:rPr lang="en-US" sz="1000"/>
                <a:t>    wordValue</a:t>
              </a:r>
              <a:endParaRPr lang="en-US" sz="1000"/>
            </a:p>
            <a:p>
              <a:r>
                <a:rPr lang="en-US" sz="1000"/>
                <a:t>&gt;</a:t>
              </a:r>
              <a:endParaRPr lang="en-US" sz="1000"/>
            </a:p>
          </p:txBody>
        </p:sp>
        <p:sp>
          <p:nvSpPr>
            <p:cNvPr id="64" name="Left Brace 63"/>
            <p:cNvSpPr/>
            <p:nvPr/>
          </p:nvSpPr>
          <p:spPr>
            <a:xfrm>
              <a:off x="5174" y="7578"/>
              <a:ext cx="176" cy="2323"/>
            </a:xfrm>
            <a:prstGeom prst="leftBrac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5" name="Text Box 64"/>
            <p:cNvSpPr txBox="1"/>
            <p:nvPr/>
          </p:nvSpPr>
          <p:spPr>
            <a:xfrm>
              <a:off x="4674" y="9996"/>
              <a:ext cx="4097" cy="62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none" rtlCol="0">
              <a:spAutoFit/>
            </a:bodyPr>
            <a:p>
              <a:r>
                <a:rPr lang="en-US" sz="1000">
                  <a:solidFill>
                    <a:schemeClr val="bg1"/>
                  </a:solidFill>
                </a:rPr>
                <a:t>word id is not continuous since one image </a:t>
              </a:r>
              <a:endParaRPr lang="en-US" sz="1000">
                <a:solidFill>
                  <a:schemeClr val="bg1"/>
                </a:solidFill>
              </a:endParaRPr>
            </a:p>
            <a:p>
              <a:r>
                <a:rPr lang="en-US" sz="1000">
                  <a:solidFill>
                    <a:schemeClr val="bg1"/>
                  </a:solidFill>
                </a:rPr>
                <a:t>may not contains all words</a:t>
              </a:r>
              <a:endParaRPr lang="en-US" sz="1000">
                <a:solidFill>
                  <a:schemeClr val="bg1"/>
                </a:solidFill>
              </a:endParaRPr>
            </a:p>
          </p:txBody>
        </p:sp>
        <p:sp>
          <p:nvSpPr>
            <p:cNvPr id="66" name="Text Box 65"/>
            <p:cNvSpPr txBox="1"/>
            <p:nvPr/>
          </p:nvSpPr>
          <p:spPr>
            <a:xfrm>
              <a:off x="7906" y="7568"/>
              <a:ext cx="86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>
                <a:buClrTx/>
                <a:buSzTx/>
                <a:buFontTx/>
              </a:pPr>
              <a:r>
                <a:rPr lang="en-US" sz="1200">
                  <a:solidFill>
                    <a:schemeClr val="dk1"/>
                  </a:solidFill>
                </a:rPr>
                <a:t>value</a:t>
              </a:r>
              <a:endParaRPr lang="en-US" sz="1200">
                <a:solidFill>
                  <a:schemeClr val="dk1"/>
                </a:solidFill>
              </a:endParaRPr>
            </a:p>
          </p:txBody>
        </p:sp>
        <p:sp>
          <p:nvSpPr>
            <p:cNvPr id="67" name="Text Box 66"/>
            <p:cNvSpPr txBox="1"/>
            <p:nvPr/>
          </p:nvSpPr>
          <p:spPr>
            <a:xfrm>
              <a:off x="7906" y="8208"/>
              <a:ext cx="86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>
                <a:buClrTx/>
                <a:buSzTx/>
                <a:buFontTx/>
              </a:pPr>
              <a:r>
                <a:rPr lang="en-US" sz="1200">
                  <a:solidFill>
                    <a:schemeClr val="dk1"/>
                  </a:solidFill>
                </a:rPr>
                <a:t>value</a:t>
              </a:r>
              <a:endParaRPr lang="en-US" sz="1200">
                <a:solidFill>
                  <a:schemeClr val="dk1"/>
                </a:solidFill>
              </a:endParaRPr>
            </a:p>
          </p:txBody>
        </p:sp>
        <p:sp>
          <p:nvSpPr>
            <p:cNvPr id="68" name="Text Box 67"/>
            <p:cNvSpPr txBox="1"/>
            <p:nvPr/>
          </p:nvSpPr>
          <p:spPr>
            <a:xfrm>
              <a:off x="7906" y="8838"/>
              <a:ext cx="86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>
                <a:buClrTx/>
                <a:buSzTx/>
                <a:buFontTx/>
              </a:pPr>
              <a:r>
                <a:rPr lang="en-US" sz="1200">
                  <a:solidFill>
                    <a:schemeClr val="dk1"/>
                  </a:solidFill>
                </a:rPr>
                <a:t>value</a:t>
              </a:r>
              <a:endParaRPr lang="en-US" sz="1200">
                <a:solidFill>
                  <a:schemeClr val="dk1"/>
                </a:solidFill>
              </a:endParaRPr>
            </a:p>
          </p:txBody>
        </p:sp>
        <p:sp>
          <p:nvSpPr>
            <p:cNvPr id="69" name="Text Box 68"/>
            <p:cNvSpPr txBox="1"/>
            <p:nvPr/>
          </p:nvSpPr>
          <p:spPr>
            <a:xfrm>
              <a:off x="7906" y="9468"/>
              <a:ext cx="865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>
                <a:buClrTx/>
                <a:buSzTx/>
                <a:buFontTx/>
              </a:pPr>
              <a:r>
                <a:rPr lang="en-US" sz="1200">
                  <a:solidFill>
                    <a:schemeClr val="dk1"/>
                  </a:solidFill>
                </a:rPr>
                <a:t>value</a:t>
              </a:r>
              <a:endParaRPr lang="en-US" sz="1200">
                <a:solidFill>
                  <a:schemeClr val="dk1"/>
                </a:solidFill>
              </a:endParaRPr>
            </a:p>
          </p:txBody>
        </p:sp>
      </p:grpSp>
      <p:sp>
        <p:nvSpPr>
          <p:cNvPr id="71" name="Freeform 70"/>
          <p:cNvSpPr/>
          <p:nvPr/>
        </p:nvSpPr>
        <p:spPr>
          <a:xfrm>
            <a:off x="3879850" y="107950"/>
            <a:ext cx="2094230" cy="1917700"/>
          </a:xfrm>
          <a:custGeom>
            <a:avLst/>
            <a:gdLst>
              <a:gd name="connisteX0" fmla="*/ 1752600 w 2094410"/>
              <a:gd name="connsiteY0" fmla="*/ 1917700 h 1917700"/>
              <a:gd name="connisteX1" fmla="*/ 1968500 w 2094410"/>
              <a:gd name="connsiteY1" fmla="*/ 647700 h 1917700"/>
              <a:gd name="connisteX2" fmla="*/ 0 w 2094410"/>
              <a:gd name="connsiteY2" fmla="*/ 0 h 1917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094410" h="1917700">
                <a:moveTo>
                  <a:pt x="1752600" y="1917700"/>
                </a:moveTo>
                <a:cubicBezTo>
                  <a:pt x="1835150" y="1676400"/>
                  <a:pt x="2319020" y="1031240"/>
                  <a:pt x="1968500" y="647700"/>
                </a:cubicBezTo>
                <a:cubicBezTo>
                  <a:pt x="1617980" y="264160"/>
                  <a:pt x="398145" y="104140"/>
                  <a:pt x="0" y="0"/>
                </a:cubicBez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lgDash"/>
            <a:headEnd type="diamond" w="med" len="med"/>
            <a:tailEnd type="diamond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Freeform 71"/>
          <p:cNvSpPr/>
          <p:nvPr/>
        </p:nvSpPr>
        <p:spPr>
          <a:xfrm>
            <a:off x="3841750" y="1026795"/>
            <a:ext cx="3683000" cy="986155"/>
          </a:xfrm>
          <a:custGeom>
            <a:avLst/>
            <a:gdLst>
              <a:gd name="connisteX0" fmla="*/ 3403600 w 3683228"/>
              <a:gd name="connsiteY0" fmla="*/ 985950 h 985950"/>
              <a:gd name="connisteX1" fmla="*/ 3352800 w 3683228"/>
              <a:gd name="connsiteY1" fmla="*/ 84250 h 985950"/>
              <a:gd name="connisteX2" fmla="*/ 0 w 3683228"/>
              <a:gd name="connsiteY2" fmla="*/ 84250 h 9859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683229" h="985951">
                <a:moveTo>
                  <a:pt x="3403600" y="985951"/>
                </a:moveTo>
                <a:cubicBezTo>
                  <a:pt x="3460750" y="805611"/>
                  <a:pt x="4033520" y="264591"/>
                  <a:pt x="3352800" y="84251"/>
                </a:cubicBezTo>
                <a:cubicBezTo>
                  <a:pt x="2672080" y="-96089"/>
                  <a:pt x="669290" y="66471"/>
                  <a:pt x="0" y="84251"/>
                </a:cubicBez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lgDash"/>
            <a:headEnd type="diamond" w="med" len="med"/>
            <a:tailEnd type="diamond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73" name="Snip Single Corner Rectangle 72"/>
          <p:cNvSpPr/>
          <p:nvPr/>
        </p:nvSpPr>
        <p:spPr>
          <a:xfrm>
            <a:off x="171450" y="2853055"/>
            <a:ext cx="990600" cy="546100"/>
          </a:xfrm>
          <a:prstGeom prst="snip1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/>
              <a:t>Image</a:t>
            </a:r>
            <a:endParaRPr lang="en-US"/>
          </a:p>
        </p:txBody>
      </p:sp>
      <p:cxnSp>
        <p:nvCxnSpPr>
          <p:cNvPr id="74" name="Straight Arrow Connector 73"/>
          <p:cNvCxnSpPr>
            <a:stCxn id="73" idx="0"/>
            <a:endCxn id="23" idx="1"/>
          </p:cNvCxnSpPr>
          <p:nvPr/>
        </p:nvCxnSpPr>
        <p:spPr>
          <a:xfrm flipV="1">
            <a:off x="1162050" y="614045"/>
            <a:ext cx="859790" cy="251206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73" idx="0"/>
            <a:endCxn id="4" idx="1"/>
          </p:cNvCxnSpPr>
          <p:nvPr/>
        </p:nvCxnSpPr>
        <p:spPr>
          <a:xfrm flipV="1">
            <a:off x="1162050" y="2662555"/>
            <a:ext cx="859790" cy="46355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73" idx="0"/>
            <a:endCxn id="46" idx="1"/>
          </p:cNvCxnSpPr>
          <p:nvPr/>
        </p:nvCxnSpPr>
        <p:spPr>
          <a:xfrm>
            <a:off x="1162050" y="3126105"/>
            <a:ext cx="859790" cy="226631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WPS Presentation</Application>
  <PresentationFormat>宽屏</PresentationFormat>
  <Paragraphs>61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Arial Unicode MS</vt:lpstr>
      <vt:lpstr>Calibri Light</vt:lpstr>
      <vt:lpstr>Calibri</vt:lpstr>
      <vt:lpstr>Trebuchet MS</vt:lpstr>
      <vt:lpstr>Microsoft YaHei</vt:lpstr>
      <vt:lpstr>Droid Sans Fallback</vt:lpstr>
      <vt:lpstr>SimSun</vt:lpstr>
      <vt:lpstr>OpenSymbol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wps</dc:creator>
  <cp:lastModifiedBy>linzy5</cp:lastModifiedBy>
  <cp:revision>5</cp:revision>
  <dcterms:created xsi:type="dcterms:W3CDTF">2023-11-11T14:44:13Z</dcterms:created>
  <dcterms:modified xsi:type="dcterms:W3CDTF">2023-11-11T14:44:13Z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1033-11.1.0.11691</vt:lpwstr>
  </property>
</Properties>
</file>